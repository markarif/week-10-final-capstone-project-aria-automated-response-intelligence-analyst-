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132320" y="-914400"/>
            <a:ext cx="3200400" cy="3200400"/>
          </a:xfrm>
          <a:prstGeom prst="ellipse">
            <a:avLst/>
          </a:prstGeom>
          <a:solidFill>
            <a:srgbClr val="FF6B35">
              <a:alpha val="22000"/>
            </a:srgbClr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680960" y="-365760"/>
            <a:ext cx="2011680" cy="2011680"/>
          </a:xfrm>
          <a:prstGeom prst="ellipse">
            <a:avLst/>
          </a:prstGeom>
          <a:solidFill>
            <a:srgbClr val="FF6B35">
              <a:alpha val="35000"/>
            </a:srgbClr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914400" y="3840480"/>
            <a:ext cx="2743200" cy="2743200"/>
          </a:xfrm>
          <a:prstGeom prst="ellipse">
            <a:avLst/>
          </a:prstGeom>
          <a:solidFill>
            <a:srgbClr val="00C9A7">
              <a:alpha val="18000"/>
            </a:srgbClr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-365760" y="4389120"/>
            <a:ext cx="1645920" cy="1645920"/>
          </a:xfrm>
          <a:prstGeom prst="ellipse">
            <a:avLst/>
          </a:prstGeom>
          <a:solidFill>
            <a:srgbClr val="00C9A7">
              <a:alpha val="32000"/>
            </a:srgbClr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926080" y="457200"/>
            <a:ext cx="3291840" cy="292608"/>
          </a:xfrm>
          <a:prstGeom prst="rect">
            <a:avLst/>
          </a:prstGeom>
          <a:solidFill>
            <a:srgbClr val="FF6B35">
              <a:alpha val="15000"/>
            </a:srgbClr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926080" y="457200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6B35"/>
                </a:solidFill>
              </a:rPr>
              <a:t>WEEK 10 FINAL CAPSTONE PROJECT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457200" y="914400"/>
            <a:ext cx="82296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800" b="1" dirty="0">
                <a:solidFill>
                  <a:srgbClr val="FF6B3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ARIA</a:t>
            </a:r>
            <a:endParaRPr lang="en-US" sz="8800" dirty="0"/>
          </a:p>
        </p:txBody>
      </p:sp>
      <p:sp>
        <p:nvSpPr>
          <p:cNvPr id="9" name="Text 7"/>
          <p:cNvSpPr/>
          <p:nvPr/>
        </p:nvSpPr>
        <p:spPr>
          <a:xfrm>
            <a:off x="457200" y="2084832"/>
            <a:ext cx="8229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Automated Response &amp; Intelligence Analyst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457200" y="2542032"/>
            <a:ext cx="8229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C9A7"/>
                </a:solidFill>
              </a:rPr>
              <a:t>Automated Incident Response System v2.0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1828800" y="2980944"/>
            <a:ext cx="5486400" cy="0"/>
          </a:xfrm>
          <a:prstGeom prst="line">
            <a:avLst/>
          </a:prstGeom>
          <a:noFill/>
          <a:ln w="19050">
            <a:solidFill>
              <a:srgbClr val="FF6B3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22960" y="3145536"/>
            <a:ext cx="18288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6B3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822960" y="3621024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899AA"/>
                </a:solidFill>
              </a:rPr>
              <a:t>Workflows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2834640" y="3145536"/>
            <a:ext cx="18288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6B3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24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2834640" y="3621024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899AA"/>
                </a:solidFill>
              </a:rPr>
              <a:t>Nodes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4846320" y="3145536"/>
            <a:ext cx="18288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6B3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7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4846320" y="3621024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899AA"/>
                </a:solidFill>
              </a:rPr>
              <a:t>Error techniques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6858000" y="3145536"/>
            <a:ext cx="18288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6B3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23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6858000" y="3621024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899AA"/>
                </a:solidFill>
              </a:rPr>
              <a:t>Governance columns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1645920" y="3986784"/>
            <a:ext cx="5852160" cy="804672"/>
          </a:xfrm>
          <a:prstGeom prst="rect">
            <a:avLst/>
          </a:prstGeom>
          <a:solidFill>
            <a:srgbClr val="0A1520"/>
          </a:solidFill>
          <a:ln w="12700">
            <a:solidFill>
              <a:srgbClr val="1A2F47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645920" y="3986784"/>
            <a:ext cx="54864" cy="804672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828800" y="4059936"/>
            <a:ext cx="53949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99AA"/>
                </a:solidFill>
              </a:rPr>
              <a:t>Presented by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828800" y="4279392"/>
            <a:ext cx="5394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 Muinde  &amp;  Paul Murithi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828800" y="4553712"/>
            <a:ext cx="5394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99AA"/>
                </a:solidFill>
              </a:rPr>
              <a:t>AI Automation | 2026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589520" y="-548640"/>
            <a:ext cx="2377440" cy="2377440"/>
          </a:xfrm>
          <a:prstGeom prst="ellipse">
            <a:avLst/>
          </a:prstGeom>
          <a:solidFill>
            <a:srgbClr val="FF6B35">
              <a:alpha val="18000"/>
            </a:srgbClr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457200" y="3566160"/>
            <a:ext cx="1828800" cy="1828800"/>
          </a:xfrm>
          <a:prstGeom prst="ellipse">
            <a:avLst/>
          </a:prstGeom>
          <a:solidFill>
            <a:srgbClr val="00C9A7">
              <a:alpha val="14000"/>
            </a:srgbClr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146304"/>
            <a:ext cx="8412480" cy="475488"/>
          </a:xfrm>
          <a:prstGeom prst="rect">
            <a:avLst/>
          </a:prstGeom>
          <a:solidFill>
            <a:srgbClr val="0A1520"/>
          </a:solidFill>
          <a:ln w="12700">
            <a:solidFill>
              <a:srgbClr val="1A2F4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146304"/>
            <a:ext cx="54864" cy="475488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12064" y="146304"/>
            <a:ext cx="81381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0C9A7"/>
                </a:solidFill>
              </a:rPr>
              <a:t>Week 10 Final Capstone — ARIA: Automated Response &amp; Intelligence Analyst  |  Mark Muinde &amp; Paul Murithi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694944"/>
            <a:ext cx="8229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6B3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Where we started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457200" y="1152144"/>
            <a:ext cx="8229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C9A7"/>
                </a:solidFill>
              </a:rPr>
              <a:t>Week 5 Capstone — what we built and where it fell short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65760" y="1481328"/>
            <a:ext cx="3931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CAF82"/>
                </a:solidFill>
              </a:rPr>
              <a:t>What we built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65760" y="1755648"/>
            <a:ext cx="3931920" cy="420624"/>
          </a:xfrm>
          <a:prstGeom prst="rect">
            <a:avLst/>
          </a:prstGeom>
          <a:solidFill>
            <a:srgbClr val="132238"/>
          </a:solidFill>
          <a:ln w="12700">
            <a:solidFill>
              <a:srgbClr val="1A2F47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65760" y="1755648"/>
            <a:ext cx="54864" cy="420624"/>
          </a:xfrm>
          <a:prstGeom prst="rect">
            <a:avLst/>
          </a:prstGeom>
          <a:solidFill>
            <a:srgbClr val="4CAF82"/>
          </a:solidFill>
          <a:ln w="12700">
            <a:solidFill>
              <a:srgbClr val="4CAF8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12064" y="1810512"/>
            <a:ext cx="3657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✓  We read incident logs from Google Sheets every hour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365760" y="2249424"/>
            <a:ext cx="3931920" cy="420624"/>
          </a:xfrm>
          <a:prstGeom prst="rect">
            <a:avLst/>
          </a:prstGeom>
          <a:solidFill>
            <a:srgbClr val="132238"/>
          </a:solidFill>
          <a:ln w="12700">
            <a:solidFill>
              <a:srgbClr val="1A2F47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65760" y="2249424"/>
            <a:ext cx="54864" cy="420624"/>
          </a:xfrm>
          <a:prstGeom prst="rect">
            <a:avLst/>
          </a:prstGeom>
          <a:solidFill>
            <a:srgbClr val="4CAF82"/>
          </a:solidFill>
          <a:ln w="12700">
            <a:solidFill>
              <a:srgbClr val="4CAF8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12064" y="2304288"/>
            <a:ext cx="3657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✓  We used an AI agent to write a short incident report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65760" y="2743200"/>
            <a:ext cx="3931920" cy="420624"/>
          </a:xfrm>
          <a:prstGeom prst="rect">
            <a:avLst/>
          </a:prstGeom>
          <a:solidFill>
            <a:srgbClr val="132238"/>
          </a:solidFill>
          <a:ln w="12700">
            <a:solidFill>
              <a:srgbClr val="1A2F47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65760" y="2743200"/>
            <a:ext cx="54864" cy="420624"/>
          </a:xfrm>
          <a:prstGeom prst="rect">
            <a:avLst/>
          </a:prstGeom>
          <a:solidFill>
            <a:srgbClr val="4CAF82"/>
          </a:solidFill>
          <a:ln w="12700">
            <a:solidFill>
              <a:srgbClr val="4CAF8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12064" y="2798064"/>
            <a:ext cx="3657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✓  We created a Google Doc with the report automatically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365760" y="3236976"/>
            <a:ext cx="3931920" cy="420624"/>
          </a:xfrm>
          <a:prstGeom prst="rect">
            <a:avLst/>
          </a:prstGeom>
          <a:solidFill>
            <a:srgbClr val="132238"/>
          </a:solidFill>
          <a:ln w="12700">
            <a:solidFill>
              <a:srgbClr val="1A2F47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65760" y="3236976"/>
            <a:ext cx="54864" cy="420624"/>
          </a:xfrm>
          <a:prstGeom prst="rect">
            <a:avLst/>
          </a:prstGeom>
          <a:solidFill>
            <a:srgbClr val="4CAF82"/>
          </a:solidFill>
          <a:ln w="12700">
            <a:solidFill>
              <a:srgbClr val="4CAF8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12064" y="3291840"/>
            <a:ext cx="3657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✓  We sent a Gmail alert for serious incidents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365760" y="3730752"/>
            <a:ext cx="3931920" cy="420624"/>
          </a:xfrm>
          <a:prstGeom prst="rect">
            <a:avLst/>
          </a:prstGeom>
          <a:solidFill>
            <a:srgbClr val="132238"/>
          </a:solidFill>
          <a:ln w="12700">
            <a:solidFill>
              <a:srgbClr val="1A2F47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65760" y="3730752"/>
            <a:ext cx="54864" cy="420624"/>
          </a:xfrm>
          <a:prstGeom prst="rect">
            <a:avLst/>
          </a:prstGeom>
          <a:solidFill>
            <a:srgbClr val="4CAF82"/>
          </a:solidFill>
          <a:ln w="12700">
            <a:solidFill>
              <a:srgbClr val="4CAF8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12064" y="3785616"/>
            <a:ext cx="3657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✓  We marked each incident as Processed in the sheet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4846320" y="1481328"/>
            <a:ext cx="3931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5C5C"/>
                </a:solidFill>
              </a:rPr>
              <a:t>Where it fell short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4846320" y="1755648"/>
            <a:ext cx="3931920" cy="420624"/>
          </a:xfrm>
          <a:prstGeom prst="rect">
            <a:avLst/>
          </a:prstGeom>
          <a:solidFill>
            <a:srgbClr val="132238"/>
          </a:solidFill>
          <a:ln w="12700">
            <a:solidFill>
              <a:srgbClr val="1A2F47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846320" y="1755648"/>
            <a:ext cx="54864" cy="420624"/>
          </a:xfrm>
          <a:prstGeom prst="rect">
            <a:avLst/>
          </a:prstGeom>
          <a:solidFill>
            <a:srgbClr val="FF5C5C"/>
          </a:solidFill>
          <a:ln w="12700">
            <a:solidFill>
              <a:srgbClr val="FF5C5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992624" y="1810512"/>
            <a:ext cx="3657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✗  We had no backup AI model — one failure broke everything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4846320" y="2249424"/>
            <a:ext cx="3931920" cy="420624"/>
          </a:xfrm>
          <a:prstGeom prst="rect">
            <a:avLst/>
          </a:prstGeom>
          <a:solidFill>
            <a:srgbClr val="132238"/>
          </a:solidFill>
          <a:ln w="12700">
            <a:solidFill>
              <a:srgbClr val="1A2F47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846320" y="2249424"/>
            <a:ext cx="54864" cy="420624"/>
          </a:xfrm>
          <a:prstGeom prst="rect">
            <a:avLst/>
          </a:prstGeom>
          <a:solidFill>
            <a:srgbClr val="FF5C5C"/>
          </a:solidFill>
          <a:ln w="12700">
            <a:solidFill>
              <a:srgbClr val="FF5C5C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992624" y="2304288"/>
            <a:ext cx="3657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✗  We had no quality checks — bad AI output passed through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4846320" y="2743200"/>
            <a:ext cx="3931920" cy="420624"/>
          </a:xfrm>
          <a:prstGeom prst="rect">
            <a:avLst/>
          </a:prstGeom>
          <a:solidFill>
            <a:srgbClr val="132238"/>
          </a:solidFill>
          <a:ln w="12700">
            <a:solidFill>
              <a:srgbClr val="1A2F47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846320" y="2743200"/>
            <a:ext cx="54864" cy="420624"/>
          </a:xfrm>
          <a:prstGeom prst="rect">
            <a:avLst/>
          </a:prstGeom>
          <a:solidFill>
            <a:srgbClr val="FF5C5C"/>
          </a:solidFill>
          <a:ln w="12700">
            <a:solidFill>
              <a:srgbClr val="FF5C5C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992624" y="2798064"/>
            <a:ext cx="3657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✗  One workflow meant any failure stopped the whole system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4846320" y="3236976"/>
            <a:ext cx="3931920" cy="420624"/>
          </a:xfrm>
          <a:prstGeom prst="rect">
            <a:avLst/>
          </a:prstGeom>
          <a:solidFill>
            <a:srgbClr val="132238"/>
          </a:solidFill>
          <a:ln w="12700">
            <a:solidFill>
              <a:srgbClr val="1A2F47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4846320" y="3236976"/>
            <a:ext cx="54864" cy="420624"/>
          </a:xfrm>
          <a:prstGeom prst="rect">
            <a:avLst/>
          </a:prstGeom>
          <a:solidFill>
            <a:srgbClr val="FF5C5C"/>
          </a:solidFill>
          <a:ln w="12700">
            <a:solidFill>
              <a:srgbClr val="FF5C5C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992624" y="3291840"/>
            <a:ext cx="3657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✗  We kept no record of what ran or what went wrong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4846320" y="3730752"/>
            <a:ext cx="3931920" cy="420624"/>
          </a:xfrm>
          <a:prstGeom prst="rect">
            <a:avLst/>
          </a:prstGeom>
          <a:solidFill>
            <a:srgbClr val="132238"/>
          </a:solidFill>
          <a:ln w="12700">
            <a:solidFill>
              <a:srgbClr val="1A2F47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4846320" y="3730752"/>
            <a:ext cx="54864" cy="420624"/>
          </a:xfrm>
          <a:prstGeom prst="rect">
            <a:avLst/>
          </a:prstGeom>
          <a:solidFill>
            <a:srgbClr val="FF5C5C"/>
          </a:solidFill>
          <a:ln w="12700">
            <a:solidFill>
              <a:srgbClr val="FF5C5C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992624" y="3785616"/>
            <a:ext cx="3657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✗  We had no human review before reports were created</a:t>
            </a: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457200" y="4864608"/>
            <a:ext cx="8229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8899AA"/>
                </a:solidFill>
              </a:rPr>
              <a:t>Mark Muinde &amp; Paul Murithi  |  Week 10 Final Capstone — ARIA Automated Incident Response System  |  2026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72400" y="-365760"/>
            <a:ext cx="2011680" cy="2011680"/>
          </a:xfrm>
          <a:prstGeom prst="ellipse">
            <a:avLst/>
          </a:prstGeom>
          <a:solidFill>
            <a:srgbClr val="00C9A7">
              <a:alpha val="15000"/>
            </a:srgbClr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146304"/>
            <a:ext cx="8412480" cy="475488"/>
          </a:xfrm>
          <a:prstGeom prst="rect">
            <a:avLst/>
          </a:prstGeom>
          <a:solidFill>
            <a:srgbClr val="0A1520"/>
          </a:solidFill>
          <a:ln w="12700">
            <a:solidFill>
              <a:srgbClr val="1A2F4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146304"/>
            <a:ext cx="54864" cy="475488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12064" y="146304"/>
            <a:ext cx="81381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0C9A7"/>
                </a:solidFill>
              </a:rPr>
              <a:t>Week 10 Final Capstone — ARIA: Automated Response &amp; Intelligence Analyst  |  Mark Muinde &amp; Paul Murithi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694944"/>
            <a:ext cx="8229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6B3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What we improved — ARIA v2.0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457200" y="1152144"/>
            <a:ext cx="8229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C9A7"/>
                </a:solidFill>
              </a:rPr>
              <a:t>Automated Response &amp; Intelligence Analyst — 4 key upgrades we made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65760" y="1481328"/>
            <a:ext cx="8412480" cy="749808"/>
          </a:xfrm>
          <a:prstGeom prst="rect">
            <a:avLst/>
          </a:prstGeom>
          <a:solidFill>
            <a:srgbClr val="132238"/>
          </a:solidFill>
          <a:ln w="12700">
            <a:solidFill>
              <a:srgbClr val="1A2F47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65760" y="1481328"/>
            <a:ext cx="548640" cy="749808"/>
          </a:xfrm>
          <a:prstGeom prst="rect">
            <a:avLst/>
          </a:prstGeom>
          <a:solidFill>
            <a:srgbClr val="7B61FF"/>
          </a:solidFill>
          <a:ln w="12700">
            <a:solidFill>
              <a:srgbClr val="7B61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" y="1481328"/>
            <a:ext cx="5486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1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1024128" y="1536192"/>
            <a:ext cx="75895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We split one workflow into three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024128" y="1773936"/>
            <a:ext cx="7589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8C6B"/>
                </a:solidFill>
              </a:rPr>
              <a:t>Before: Everything in one workflow — one failure stopped everything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024128" y="1975104"/>
            <a:ext cx="7589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99AA"/>
                </a:solidFill>
              </a:rPr>
              <a:t>After: 3 separate workflows. If one step fails the others still run and everything gets logged.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365760" y="2340864"/>
            <a:ext cx="8412480" cy="749808"/>
          </a:xfrm>
          <a:prstGeom prst="rect">
            <a:avLst/>
          </a:prstGeom>
          <a:solidFill>
            <a:srgbClr val="132238"/>
          </a:solidFill>
          <a:ln w="12700">
            <a:solidFill>
              <a:srgbClr val="1A2F47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65760" y="2340864"/>
            <a:ext cx="548640" cy="749808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5760" y="2340864"/>
            <a:ext cx="5486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2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1024128" y="2395728"/>
            <a:ext cx="75895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We gave our AI a backup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024128" y="2633472"/>
            <a:ext cx="7589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8C6B"/>
                </a:solidFill>
              </a:rPr>
              <a:t>Before: We had one unnamed AI model with no plan if it failed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024128" y="2834640"/>
            <a:ext cx="7589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99AA"/>
                </a:solidFill>
              </a:rPr>
              <a:t>After: Mistral AI runs first. If it fails, OpenAI takes over automatically. The system never stops.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365760" y="3200400"/>
            <a:ext cx="8412480" cy="749808"/>
          </a:xfrm>
          <a:prstGeom prst="rect">
            <a:avLst/>
          </a:prstGeom>
          <a:solidFill>
            <a:srgbClr val="132238"/>
          </a:solidFill>
          <a:ln w="12700">
            <a:solidFill>
              <a:srgbClr val="1A2F47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65760" y="3200400"/>
            <a:ext cx="548640" cy="749808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65760" y="3200400"/>
            <a:ext cx="5486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3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1024128" y="3255264"/>
            <a:ext cx="75895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We added a human approval step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1024128" y="3493008"/>
            <a:ext cx="7589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8C6B"/>
                </a:solidFill>
              </a:rPr>
              <a:t>Before: AI output went straight to reports and emails with no human review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024128" y="3694176"/>
            <a:ext cx="7589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99AA"/>
                </a:solidFill>
              </a:rPr>
              <a:t>After: A reviewer must approve the AI analysis by email before any report is created.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365760" y="4059936"/>
            <a:ext cx="8412480" cy="749808"/>
          </a:xfrm>
          <a:prstGeom prst="rect">
            <a:avLst/>
          </a:prstGeom>
          <a:solidFill>
            <a:srgbClr val="132238"/>
          </a:solidFill>
          <a:ln w="12700">
            <a:solidFill>
              <a:srgbClr val="1A2F47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65760" y="4059936"/>
            <a:ext cx="548640" cy="749808"/>
          </a:xfrm>
          <a:prstGeom prst="rect">
            <a:avLst/>
          </a:prstGeom>
          <a:solidFill>
            <a:srgbClr val="4CAF82"/>
          </a:solidFill>
          <a:ln w="12700">
            <a:solidFill>
              <a:srgbClr val="4CAF82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65760" y="4059936"/>
            <a:ext cx="5486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4</a:t>
            </a:r>
            <a:endParaRPr lang="en-US" sz="2000" dirty="0"/>
          </a:p>
        </p:txBody>
      </p:sp>
      <p:sp>
        <p:nvSpPr>
          <p:cNvPr id="29" name="Text 27"/>
          <p:cNvSpPr/>
          <p:nvPr/>
        </p:nvSpPr>
        <p:spPr>
          <a:xfrm>
            <a:off x="1024128" y="4114800"/>
            <a:ext cx="75895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We built a full audit trail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1024128" y="4352544"/>
            <a:ext cx="7589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8C6B"/>
                </a:solidFill>
              </a:rPr>
              <a:t>Before: We had no record of what ran, when, or what the outcome was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1024128" y="4553712"/>
            <a:ext cx="7589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99AA"/>
                </a:solidFill>
              </a:rPr>
              <a:t>After: Every execution writes 23 pieces of information to a Run Logs tab automatically.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457200" y="4864608"/>
            <a:ext cx="8229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8899AA"/>
                </a:solidFill>
              </a:rPr>
              <a:t>Mark Muinde &amp; Paul Murithi  |  Week 10 Final Capstone — ARIA Automated Incident Response System  |  2026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365760" y="3291840"/>
            <a:ext cx="2194560" cy="2194560"/>
          </a:xfrm>
          <a:prstGeom prst="ellipse">
            <a:avLst/>
          </a:prstGeom>
          <a:solidFill>
            <a:srgbClr val="FF6B35">
              <a:alpha val="12000"/>
            </a:srgbClr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589520" y="-548640"/>
            <a:ext cx="2377440" cy="2377440"/>
          </a:xfrm>
          <a:prstGeom prst="ellipse">
            <a:avLst/>
          </a:prstGeom>
          <a:solidFill>
            <a:srgbClr val="00C9A7">
              <a:alpha val="15000"/>
            </a:srgbClr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146304"/>
            <a:ext cx="8412480" cy="475488"/>
          </a:xfrm>
          <a:prstGeom prst="rect">
            <a:avLst/>
          </a:prstGeom>
          <a:solidFill>
            <a:srgbClr val="0A1520"/>
          </a:solidFill>
          <a:ln w="12700">
            <a:solidFill>
              <a:srgbClr val="1A2F4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146304"/>
            <a:ext cx="54864" cy="475488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12064" y="146304"/>
            <a:ext cx="81381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0C9A7"/>
                </a:solidFill>
              </a:rPr>
              <a:t>Week 10 Final Capstone — ARIA: Automated Response &amp; Intelligence Analyst  |  Mark Muinde &amp; Paul Murithi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694944"/>
            <a:ext cx="8229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6B3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result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457200" y="1152144"/>
            <a:ext cx="8229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C9A7"/>
                </a:solidFill>
              </a:rPr>
              <a:t>From a fragile prototype to a production-ready system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65760" y="1481328"/>
            <a:ext cx="3931920" cy="2834640"/>
          </a:xfrm>
          <a:prstGeom prst="rect">
            <a:avLst/>
          </a:prstGeom>
          <a:solidFill>
            <a:srgbClr val="180810"/>
          </a:solidFill>
          <a:ln w="12700">
            <a:solidFill>
              <a:srgbClr val="1A2F4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65760" y="1481328"/>
            <a:ext cx="3931920" cy="310896"/>
          </a:xfrm>
          <a:prstGeom prst="rect">
            <a:avLst/>
          </a:prstGeom>
          <a:solidFill>
            <a:srgbClr val="FF5C5C"/>
          </a:solidFill>
          <a:ln w="12700">
            <a:solidFill>
              <a:srgbClr val="FF5C5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1481328"/>
            <a:ext cx="37490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Week 5 — Before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12064" y="1883664"/>
            <a:ext cx="362102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8C8C"/>
                </a:solidFill>
              </a:rPr>
              <a:t>✗  1 workflow, 11 nodes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12064" y="2194560"/>
            <a:ext cx="362102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8C8C"/>
                </a:solidFill>
              </a:rPr>
              <a:t>✗  1 AI model, no backup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12064" y="2505456"/>
            <a:ext cx="362102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8C8C"/>
                </a:solidFill>
              </a:rPr>
              <a:t>✗  No quality checks on output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12064" y="2816352"/>
            <a:ext cx="362102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8C8C"/>
                </a:solidFill>
              </a:rPr>
              <a:t>✗  No human review at all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512064" y="3127248"/>
            <a:ext cx="362102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8C8C"/>
                </a:solidFill>
              </a:rPr>
              <a:t>✗  No audit trail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512064" y="3438144"/>
            <a:ext cx="362102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8C8C"/>
                </a:solidFill>
              </a:rPr>
              <a:t>✗  Any failure = full crash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512064" y="3749040"/>
            <a:ext cx="362102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8C8C"/>
                </a:solidFill>
              </a:rPr>
              <a:t>✗  3 fields logged per incident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846320" y="1481328"/>
            <a:ext cx="3931920" cy="2834640"/>
          </a:xfrm>
          <a:prstGeom prst="rect">
            <a:avLst/>
          </a:prstGeom>
          <a:solidFill>
            <a:srgbClr val="081808"/>
          </a:solidFill>
          <a:ln w="12700">
            <a:solidFill>
              <a:srgbClr val="1A2F47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846320" y="1481328"/>
            <a:ext cx="3931920" cy="310896"/>
          </a:xfrm>
          <a:prstGeom prst="rect">
            <a:avLst/>
          </a:prstGeom>
          <a:solidFill>
            <a:srgbClr val="4CAF82"/>
          </a:solidFill>
          <a:ln w="12700">
            <a:solidFill>
              <a:srgbClr val="4CAF8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937760" y="1481328"/>
            <a:ext cx="37490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ARIA v2.0 — After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992624" y="1883664"/>
            <a:ext cx="362102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CFFA0"/>
                </a:solidFill>
              </a:rPr>
              <a:t>✓  3 workflows, 24 nodes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992624" y="2194560"/>
            <a:ext cx="362102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CFFA0"/>
                </a:solidFill>
              </a:rPr>
              <a:t>✓  Mistral AI primary + OpenAI backup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992624" y="2505456"/>
            <a:ext cx="362102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CFFA0"/>
                </a:solidFill>
              </a:rPr>
              <a:t>✓  3-layer quality validation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992624" y="2816352"/>
            <a:ext cx="362102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CFFA0"/>
                </a:solidFill>
              </a:rPr>
              <a:t>✓  Human approval before every report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4992624" y="3127248"/>
            <a:ext cx="362102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CFFA0"/>
                </a:solidFill>
              </a:rPr>
              <a:t>✓  23-column audit trail every run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992624" y="3438144"/>
            <a:ext cx="362102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CFFA0"/>
                </a:solidFill>
              </a:rPr>
              <a:t>✓  7 error handling techniques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4992624" y="3749040"/>
            <a:ext cx="362102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CFFA0"/>
                </a:solidFill>
              </a:rPr>
              <a:t>✓  23 fields logged per execution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365760" y="4425696"/>
            <a:ext cx="8412480" cy="603504"/>
          </a:xfrm>
          <a:prstGeom prst="rect">
            <a:avLst/>
          </a:prstGeom>
          <a:solidFill>
            <a:srgbClr val="0A0D15"/>
          </a:solidFill>
          <a:ln w="12700">
            <a:solidFill>
              <a:srgbClr val="1A2F47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65760" y="4425696"/>
            <a:ext cx="54864" cy="603504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48640" y="4480560"/>
            <a:ext cx="804672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8899AA"/>
                </a:solidFill>
              </a:rPr>
              <a:t>"We started with a workflow that automated the happy path. We finished with a system designed for failure, uncertainty, and scale."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457200" y="4864608"/>
            <a:ext cx="8229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8899AA"/>
                </a:solidFill>
              </a:rPr>
              <a:t>Mark Muinde &amp; Paul Murithi  |  Week 10 Final Capstone — ARIA Automated Incident Response System  |  2026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2026-06-09T15:23:25Z</dcterms:created>
  <dcterms:modified xsi:type="dcterms:W3CDTF">2026-06-09T15:23:25Z</dcterms:modified>
</cp:coreProperties>
</file>